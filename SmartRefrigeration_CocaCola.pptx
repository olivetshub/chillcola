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Working</c:v>
                </c:pt>
              </c:strCache>
            </c:strRef>
          </c:tx>
          <c:spPr>
            <a:solidFill>
              <a:srgbClr val="E41E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CBU - Lahore</c:v>
                </c:pt>
                <c:pt idx="1">
                  <c:v>CBU - ISB</c:v>
                </c:pt>
                <c:pt idx="2">
                  <c:v>CBU - FSD</c:v>
                </c:pt>
                <c:pt idx="3">
                  <c:v>SBU - KHI</c:v>
                </c:pt>
                <c:pt idx="4">
                  <c:v>SBU - HYD</c:v>
                </c:pt>
                <c:pt idx="5">
                  <c:v>SBU - QTA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72</c:v>
                </c:pt>
                <c:pt idx="2">
                  <c:v>90</c:v>
                </c:pt>
                <c:pt idx="3">
                  <c:v>65</c:v>
                </c:pt>
                <c:pt idx="4">
                  <c:v>58</c:v>
                </c:pt>
                <c:pt idx="5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Faulty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CBU - Lahore</c:v>
                </c:pt>
                <c:pt idx="1">
                  <c:v>CBU - ISB</c:v>
                </c:pt>
                <c:pt idx="2">
                  <c:v>CBU - FSD</c:v>
                </c:pt>
                <c:pt idx="3">
                  <c:v>SBU - KHI</c:v>
                </c:pt>
                <c:pt idx="4">
                  <c:v>SBU - HYD</c:v>
                </c:pt>
                <c:pt idx="5">
                  <c:v>SBU - QTA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3</c:v>
                </c:pt>
                <c:pt idx="3">
                  <c:v>12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198454064"/>
        <c:axId val="198457200"/>
      </c:barChart>
      <c:catAx>
        <c:axId val="198454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8457200"/>
        <c:crosses val="autoZero"/>
        <c:auto val="1"/>
        <c:lblAlgn val="ctr"/>
        <c:lblOffset val="100"/>
        <c:noMultiLvlLbl val="1"/>
      </c:catAx>
      <c:valAx>
        <c:axId val="19845720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8454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1E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Critical</c:v>
                </c:pt>
                <c:pt idx="1">
                  <c:v>Warning</c:v>
                </c:pt>
                <c:pt idx="2">
                  <c:v>Resolved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41E26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Offline</c:v>
                </c:pt>
                <c:pt idx="2">
                  <c:v>Maintenance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52</c:v>
                </c:pt>
                <c:pt idx="2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68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669" y="15717"/>
            <a:ext cx="4149941" cy="51435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6120" y="15717"/>
            <a:ext cx="73152" cy="514350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B31217">
              <a:alpha val="50000"/>
            </a:srgbClr>
          </a:solidFill>
          <a:ln w="12700">
            <a:solidFill>
              <a:srgbClr val="B31217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1929" y="1213598"/>
            <a:ext cx="2926080" cy="2926080"/>
          </a:xfrm>
          <a:prstGeom prst="ellipse">
            <a:avLst/>
          </a:prstGeom>
          <a:solidFill>
            <a:srgbClr val="B31217">
              <a:alpha val="40000"/>
            </a:srgbClr>
          </a:solidFill>
          <a:ln w="12700">
            <a:solidFill>
              <a:srgbClr val="B3121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014" y="2889986"/>
            <a:ext cx="25119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FFFF"/>
                </a:solidFill>
              </a:rPr>
              <a:t>COCA-COLA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041" y="3312055"/>
            <a:ext cx="228600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209" y="342178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kern="0" spc="300" dirty="0">
                <a:solidFill>
                  <a:srgbClr val="FFFFFF"/>
                </a:solidFill>
              </a:rPr>
              <a:t>IoT DIVISION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37793" y="2064975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Smart Refrigeration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395303" y="2624373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41E26"/>
                </a:solidFill>
              </a:rPr>
              <a:t>Monitoring System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297678" y="3497580"/>
            <a:ext cx="4754880" cy="27432"/>
          </a:xfrm>
          <a:prstGeom prst="rect">
            <a:avLst/>
          </a:prstGeom>
          <a:solidFill>
            <a:srgbClr val="E41E26">
              <a:alpha val="60000"/>
            </a:srgbClr>
          </a:solidFill>
          <a:ln w="12700">
            <a:solidFill>
              <a:srgbClr val="E41E26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5935" y="3696103"/>
            <a:ext cx="423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5E7EB"/>
                </a:solidFill>
              </a:rPr>
              <a:t>IoT-Based Dashboard for Real-Time Coca-Cola Refrigeration Intelligence</a:t>
            </a:r>
            <a:endParaRPr lang="en-US" sz="13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4048190" cy="2427194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555541" y="4770012"/>
            <a:ext cx="3017520" cy="289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kern="0" spc="300" dirty="0" smtClean="0">
                <a:solidFill>
                  <a:srgbClr val="FFFFFF"/>
                </a:solidFill>
              </a:rPr>
              <a:t>Powered By OLIVE TS by FFC</a:t>
            </a:r>
            <a:endParaRPr lang="en-US" sz="1200" b="1" dirty="0"/>
          </a:p>
        </p:txBody>
      </p:sp>
      <p:sp>
        <p:nvSpPr>
          <p:cNvPr id="26" name="AutoShape 2" descr="OLIVE Technical Services (Pvt) Limited | Linked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691" y="-548640"/>
            <a:ext cx="2780017" cy="2145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Why traditional refrigeration management falls short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 Real-Time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Field teams lack live status updates on refrigerator health and performance across locations.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926080"/>
            <a:ext cx="64008" cy="155448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Temperature Fluctuations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Manual checks miss critical temperature spikes, leading to significant product spoilage and loss.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188720"/>
            <a:ext cx="64008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Delayed Fault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Faults go undetected for hours or days without automated monitoring, increasing repair costs.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26080"/>
            <a:ext cx="64008" cy="155448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Manual &amp; Error-Prone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4290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Paper-based reporting is slow, inconsistent, and impossible to scale across hundreds of units.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B31217">
              <a:alpha val="45000"/>
            </a:srgbClr>
          </a:solidFill>
          <a:ln w="12700">
            <a:solidFill>
              <a:srgbClr val="B31217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92024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Building smarter refrigeration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for Coca-Cola's future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45720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4572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Real-Time Monitoring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69080" y="822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Track all refrigeration units live — temperature, humidity, and power status across all cities.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463040"/>
            <a:ext cx="46634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1554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Centralized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One smart interface visualizing all data with zone-wise filters for CBU and SBU operations.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2560320"/>
            <a:ext cx="46634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65176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9080" y="2651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Instant Fault Alerts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6908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Automated critical and warning alerts dispatched the moment anomalies are detected.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3657600"/>
            <a:ext cx="466344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374904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3749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Energy &amp; Analytics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0690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Track energy consumption per unit and generate actionable insights to cut operational costs.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E7EB"/>
                </a:solidFill>
              </a:rPr>
              <a:t>End-to-end IoT pipeline from sensor to insight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41148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" y="1691640"/>
            <a:ext cx="731520" cy="731520"/>
          </a:xfrm>
          <a:prstGeom prst="ellipse">
            <a:avLst/>
          </a:prstGeom>
          <a:solidFill>
            <a:srgbClr val="E41E26">
              <a:alpha val="85000"/>
            </a:srgbClr>
          </a:solidFill>
          <a:ln w="12700">
            <a:solidFill>
              <a:srgbClr val="E41E26">
                <a:alpha val="8500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01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IoT Sensors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Temperature, humidity &amp; voltage sensors deployed on every refrigerator unit.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697480"/>
            <a:ext cx="182880" cy="36576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257860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41E26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11430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143000"/>
            <a:ext cx="1965960" cy="41148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43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81528" y="1691640"/>
            <a:ext cx="731520" cy="731520"/>
          </a:xfrm>
          <a:prstGeom prst="ellipse">
            <a:avLst/>
          </a:prstGeom>
          <a:solidFill>
            <a:srgbClr val="B31217">
              <a:alpha val="85000"/>
            </a:srgbClr>
          </a:solidFill>
          <a:ln w="12700">
            <a:solidFill>
              <a:srgbClr val="B31217">
                <a:alpha val="8500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02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60320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Backend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944368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Node.js backend processes, validates, and stores incoming sensor data streams.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2697480"/>
            <a:ext cx="182880" cy="36576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257860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41E26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143000"/>
            <a:ext cx="1965960" cy="41148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143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30368" y="1691640"/>
            <a:ext cx="731520" cy="731520"/>
          </a:xfrm>
          <a:prstGeom prst="ellipse">
            <a:avLst/>
          </a:prstGeom>
          <a:solidFill>
            <a:srgbClr val="E41E26">
              <a:alpha val="85000"/>
            </a:srgbClr>
          </a:solidFill>
          <a:ln w="12700">
            <a:solidFill>
              <a:srgbClr val="E41E26">
                <a:alpha val="8500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03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9160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1A1A1A"/>
                </a:solidFill>
              </a:rPr>
              <a:t>Database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2944368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Structured storage with historical logs enabling trend analysis and reporting.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2697480"/>
            <a:ext cx="182880" cy="36576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578608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41E26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11430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143000"/>
            <a:ext cx="1965960" cy="41148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143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79208" y="1691640"/>
            <a:ext cx="731520" cy="731520"/>
          </a:xfrm>
          <a:prstGeom prst="ellipse">
            <a:avLst/>
          </a:prstGeom>
          <a:solidFill>
            <a:srgbClr val="B31217">
              <a:alpha val="85000"/>
            </a:srgbClr>
          </a:solidFill>
          <a:ln w="12700">
            <a:solidFill>
              <a:srgbClr val="B31217">
                <a:alpha val="85000"/>
              </a:srgbClr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04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58000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Smart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2944368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React-powered web dashboard with live charts, alerts, and zone-based views.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Continuous real-time data flow from edge to insight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2743200"/>
          </a:xfrm>
          <a:prstGeom prst="rect">
            <a:avLst/>
          </a:prstGeom>
          <a:solidFill>
            <a:srgbClr val="E41E26">
              <a:alpha val="90000"/>
            </a:srgbClr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920240" cy="4572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SENSORS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Temp · Humidity · Voltage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2496312"/>
            <a:ext cx="4572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188720"/>
            <a:ext cx="1920240" cy="2743200"/>
          </a:xfrm>
          <a:prstGeom prst="rect">
            <a:avLst/>
          </a:prstGeom>
          <a:solidFill>
            <a:srgbClr val="B31217">
              <a:alpha val="90000"/>
            </a:srgbClr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188720"/>
            <a:ext cx="1920240" cy="45720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Processing · 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2496312"/>
            <a:ext cx="4572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920240" cy="2743200"/>
          </a:xfrm>
          <a:prstGeom prst="rect">
            <a:avLst/>
          </a:prstGeom>
          <a:solidFill>
            <a:srgbClr val="E41E26">
              <a:alpha val="90000"/>
            </a:srgbClr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Cloud · Historical 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496312"/>
            <a:ext cx="4572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37744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0" y="1188720"/>
            <a:ext cx="1920240" cy="2743200"/>
          </a:xfrm>
          <a:prstGeom prst="rect">
            <a:avLst/>
          </a:prstGeom>
          <a:solidFill>
            <a:srgbClr val="B31217">
              <a:alpha val="90000"/>
            </a:srgbClr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7EB"/>
                </a:solidFill>
              </a:rPr>
              <a:t>React · Charts · Alerts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28600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500+ fridge units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761488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761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 sensor types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236976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1-min intervals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28600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REST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2761488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2761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Real-time push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0" y="3236976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Data validation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28600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Cloud storage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761488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761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30-day history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236976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Backup &amp; sync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49440" y="228600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Live charts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2761488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761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Alert panel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49440" y="3236976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Zone filters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5E7EB"/>
                </a:solidFill>
              </a:rPr>
              <a:t>Cloud-Based · Scalable ·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Six pillars powering the Smart Refrigeration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Zone-Based Monitoring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CBU &amp; SBU units tracked independently with city-level drill-down for focused operations.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Real-Time Alerts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Critical and warning notifications triggered instantly via automated alert engine.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307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Device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8928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Online/offline status with live sensor sync and device-level performance visibility.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1752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044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Energy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Per-unit energy usage tracked to identify wastage and reduce operational costs.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01752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044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Smart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Historical trends, performance charts, and KPI dashboards for data-driven decisions.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55080" y="3017520"/>
            <a:ext cx="502920" cy="5029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044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Fault Prevention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6301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Predictive signals and early anomaly detection to stop failures before they escalate.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OVERVIEW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E7EB"/>
                </a:solidFill>
              </a:rPr>
              <a:t>Unified command center for all refrigeration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6400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</a:rPr>
              <a:t>500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Total Fridges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units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97280"/>
            <a:ext cx="1920240" cy="6400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07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</a:rPr>
              <a:t>462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Working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operational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97280"/>
            <a:ext cx="1920240" cy="64008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207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31217"/>
                </a:solidFill>
              </a:rPr>
              <a:t>38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Faulty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need attention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2084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097280"/>
            <a:ext cx="1920240" cy="6400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2070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1A1A"/>
                </a:solidFill>
              </a:rPr>
              <a:t>3.2K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Energy Today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</a:rPr>
              <a:t>kWh consumed</a:t>
            </a:r>
            <a:endParaRPr lang="en-US" sz="8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468880"/>
          <a:ext cx="54864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989320" y="2468880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2468880"/>
            <a:ext cx="54864" cy="6858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25237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4.2°C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172200" y="2843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Avg Temp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5895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280"/>
                </a:solidFill>
              </a:rPr>
              <a:t>Within safe range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989320" y="3264408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89320" y="3264408"/>
            <a:ext cx="54864" cy="6858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72200" y="3319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68%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72200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Avg Humidity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589520" y="34472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280"/>
                </a:solidFill>
              </a:rPr>
              <a:t>Acceptable level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989320" y="4059936"/>
            <a:ext cx="2880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989320" y="4059936"/>
            <a:ext cx="54864" cy="6858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72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92.4%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172200" y="44348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Uptime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589520" y="42428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280"/>
                </a:solidFill>
              </a:rPr>
              <a:t>Last 30 days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ZONES MODULE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Geographic segmentation for precision refrigeration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64008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CBU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Carbonated Business Unit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749040" cy="384048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Total Fridges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1E26"/>
                </a:solidFill>
              </a:rPr>
              <a:t>280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Working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350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1E26"/>
                </a:solidFill>
              </a:rPr>
              <a:t>265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3749040" cy="384048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Faulty Units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8254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41E26"/>
                </a:solidFill>
              </a:rPr>
              <a:t>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280"/>
                </a:solidFill>
              </a:rPr>
              <a:t>CITIES COVERED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Lahore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Islamabad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109728" cy="109728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Faisalabad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097280"/>
            <a:ext cx="4114800" cy="64008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97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SBU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Still Business Unit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1874520"/>
            <a:ext cx="3749040" cy="384048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Total Fridges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18745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31217"/>
                </a:solidFill>
              </a:rPr>
              <a:t>220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2350008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Working Units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2350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31217"/>
                </a:solidFill>
              </a:rPr>
              <a:t>197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2825496"/>
            <a:ext cx="3749040" cy="384048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Faulty Units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28254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31217"/>
                </a:solidFill>
              </a:rPr>
              <a:t>23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B7280"/>
                </a:solidFill>
              </a:rPr>
              <a:t>CITIES COVERED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92040" y="3703320"/>
            <a:ext cx="109728" cy="109728"/>
          </a:xfrm>
          <a:prstGeom prst="ellipse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56632" y="36393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Karachi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3703320"/>
            <a:ext cx="109728" cy="109728"/>
          </a:xfrm>
          <a:prstGeom prst="ellipse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56632" y="3895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Hyderabad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92040" y="3703320"/>
            <a:ext cx="109728" cy="109728"/>
          </a:xfrm>
          <a:prstGeom prst="ellipse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56632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Quetta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ALERTS SYSTEM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Automated multi-tier alerting for zero blind spots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3657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2062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</a:rPr>
              <a:t>ALERT BREAKDOWN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06240" y="150876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508760"/>
            <a:ext cx="54864" cy="38404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1508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High Temperature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1E26"/>
                </a:solidFill>
              </a:rPr>
              <a:t>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0" y="164592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0" y="1645920"/>
            <a:ext cx="914400" cy="10972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201168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2011680"/>
            <a:ext cx="54864" cy="38404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2011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Power OFF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38160" y="20116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1E26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0" y="214884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0" y="2148840"/>
            <a:ext cx="457200" cy="10972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0" y="251460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06240" y="2514600"/>
            <a:ext cx="54864" cy="38404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4340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Compressor Failure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38160" y="2514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1E26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32320" y="265176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0" y="2651760"/>
            <a:ext cx="457200" cy="109728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301752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06240" y="301752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43400" y="3017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Door Open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138160" y="30175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132320" y="315468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32320" y="3154680"/>
            <a:ext cx="6858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206240" y="352044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06240" y="352044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4340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Low Voltage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138160" y="35204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132320" y="365760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3657600"/>
            <a:ext cx="4572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06240" y="4023360"/>
            <a:ext cx="4617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06240" y="402336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43400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High Humidity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138160" y="4023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2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132320" y="4160520"/>
            <a:ext cx="914400" cy="10972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32320" y="4160520"/>
            <a:ext cx="4572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MONITORING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E7EB"/>
                </a:solidFill>
              </a:rPr>
              <a:t>Live device health tracking with full sensor synchronization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143000"/>
            <a:ext cx="4160520" cy="77724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1143000"/>
            <a:ext cx="54864" cy="7772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1216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Online/Offline Status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0060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Know exactly which units are live vs disconnected in real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057400"/>
            <a:ext cx="4160520" cy="77724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54864" cy="7772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Sensor Tracking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Temp, humidity, voltage, and compressor sensors monitored per device.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971800"/>
            <a:ext cx="4160520" cy="77724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2971800"/>
            <a:ext cx="54864" cy="7772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Live Device Status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Health scores and diagnostic flags surfaced on the device panel.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886200"/>
            <a:ext cx="4160520" cy="77724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886200"/>
            <a:ext cx="54864" cy="7772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3959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Data Synchronization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4270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Auto-sync every 60 seconds with conflict resolution for edge cases.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Modern stack built for scale, speed, and reliability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React.js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FRONTEND FRAMEWORK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Component-based UI for the live dashboard with Recharts integration.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UI STYLING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Utility-first CSS framework delivering fast, consistent design across views.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IoT Sensors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645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DATA COLLECTION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Edge sensors capturing temperature, humidity, voltage data per fridge.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Node.js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BACKEND API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REST API server handling real-time data ingestion and alert dispatch.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Data Charts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8328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Recharts and Chart.js powering bar, pie, and line graphs on the dashboard.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88036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880360"/>
            <a:ext cx="274320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Cloud Database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E41E26"/>
                </a:solidFill>
              </a:rPr>
              <a:t>DATA STORAGE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Scalable cloud database storing sensor logs, alerts, and device records.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&amp; BENEFITS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Measurable impact across Coca-Cola refrigeration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92024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1E26"/>
                </a:solidFill>
              </a:rPr>
              <a:t>40%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3716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Faster Fault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Automated alerts cut response time from hours to minutes.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92024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143000"/>
            <a:ext cx="192024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1E26"/>
                </a:solidFill>
              </a:rPr>
              <a:t>25%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2697480" y="2267712"/>
            <a:ext cx="13716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Reduction in Product Loss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Real-time temp monitoring prevents spoilage before it occurs.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192024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43000"/>
            <a:ext cx="192024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1E26"/>
                </a:solidFill>
              </a:rPr>
              <a:t>30%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4846320" y="2267712"/>
            <a:ext cx="13716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Better Energy Management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Per-unit tracking identifies wasteful units for optimization.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143000"/>
            <a:ext cx="192024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1143000"/>
            <a:ext cx="1920240" cy="54864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41E26"/>
                </a:solidFill>
              </a:rPr>
              <a:t>92%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6995160" y="2267712"/>
            <a:ext cx="13716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Fleet Uptime Achieved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971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</a:rPr>
              <a:t>Continuous monitoring keeps the majority of units operational.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The roadmap ahead — building tomorrow's refrigeration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58921"/>
            <a:ext cx="7772400" cy="45720"/>
          </a:xfrm>
          <a:prstGeom prst="rect">
            <a:avLst/>
          </a:prstGeom>
          <a:solidFill>
            <a:srgbClr val="E41E26">
              <a:alpha val="60000"/>
            </a:srgbClr>
          </a:solidFill>
          <a:ln w="12700">
            <a:solidFill>
              <a:srgbClr val="E41E2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4329"/>
            <a:ext cx="365760" cy="36576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43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64561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41E26"/>
                </a:solidFill>
              </a:rPr>
              <a:t>Q1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32480"/>
            <a:ext cx="1920240" cy="182880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23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AI-Based Predictions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81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Machine learning models to predict faults 24 hrs before they occur, enabling preventive maintenance.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694329"/>
            <a:ext cx="365760" cy="36576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6943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1264561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41E26"/>
                </a:solidFill>
              </a:rPr>
              <a:t>Q2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2232480"/>
            <a:ext cx="1920240" cy="182880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2323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Mobile Application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781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Cross-platform iOS/Android app giving field teams live access to all dashboard data on the go.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694329"/>
            <a:ext cx="365760" cy="36576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6943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264561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41E26"/>
                </a:solidFill>
              </a:rPr>
              <a:t>Q3 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232480"/>
            <a:ext cx="1920240" cy="182880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323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Advanced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781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Deep-dive reports with custom KPIs, benchmarking, and automated executive summaries.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694329"/>
            <a:ext cx="365760" cy="36576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6943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1264561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41E26"/>
                </a:solidFill>
              </a:rPr>
              <a:t>Q4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03720" y="2232480"/>
            <a:ext cx="1920240" cy="1828800"/>
          </a:xfrm>
          <a:prstGeom prst="rect">
            <a:avLst/>
          </a:prstGeom>
          <a:solidFill>
            <a:srgbClr val="FDF5F5"/>
          </a:solidFill>
          <a:ln w="1270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2323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Map-Based Tracking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781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Geo-mapped view of all refrigerator locations with live status overlays and routing for technicians.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B31217"/>
          </a:solidFill>
          <a:ln w="12700">
            <a:solidFill>
              <a:srgbClr val="B312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Coca-Cola Smart Refrigeration · Confidential 2025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B31217">
              <a:alpha val="55000"/>
            </a:srgbClr>
          </a:solidFill>
          <a:ln w="12700">
            <a:solidFill>
              <a:srgbClr val="B3121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0"/>
            <a:ext cx="3657600" cy="3657600"/>
          </a:xfrm>
          <a:prstGeom prst="ellipse">
            <a:avLst/>
          </a:prstGeom>
          <a:solidFill>
            <a:srgbClr val="B31217">
              <a:alpha val="45000"/>
            </a:srgbClr>
          </a:solidFill>
          <a:ln w="12700">
            <a:solidFill>
              <a:srgbClr val="B31217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365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FFFF"/>
                </a:solidFill>
              </a:rPr>
              <a:t>COCA-COLA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SMART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REFRIGER-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880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ATION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265176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Monitoring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43400" y="731520"/>
            <a:ext cx="4480560" cy="27432"/>
          </a:xfrm>
          <a:prstGeom prst="rect">
            <a:avLst/>
          </a:prstGeom>
          <a:solidFill>
            <a:srgbClr val="E41E26">
              <a:alpha val="70000"/>
            </a:srgbClr>
          </a:solidFill>
          <a:ln w="12700">
            <a:solidFill>
              <a:srgbClr val="E41E26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078992"/>
            <a:ext cx="274320" cy="2743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0058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</a:rPr>
              <a:t>Real-time visibility across 500+ Coca-Cola refrigeration units deployed nationwide.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975104"/>
            <a:ext cx="274320" cy="2743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9019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</a:rPr>
              <a:t>Automated alert engine catching critical faults within seconds — not hours.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871216"/>
            <a:ext cx="274320" cy="2743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</a:rPr>
              <a:t>Energy and performance analytics driving data-led operational decisions.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767328"/>
            <a:ext cx="274320" cy="274320"/>
          </a:xfrm>
          <a:prstGeom prst="ellipse">
            <a:avLst/>
          </a:prstGeom>
          <a:solidFill>
            <a:srgbClr val="E41E26"/>
          </a:solidFill>
          <a:ln w="12700">
            <a:solidFill>
              <a:srgbClr val="E41E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69417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</a:rPr>
              <a:t>A scalable foundation ready for AI predictions and mobile expansion in 2026.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41E26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987</Words>
  <Application>Microsoft Office PowerPoint</Application>
  <PresentationFormat>On-screen Show (16:9)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Refrigeration Monitoring System</dc:title>
  <dc:subject>PptxGenJS Presentation</dc:subject>
  <dc:creator>Coca-Cola IoT Team</dc:creator>
  <cp:lastModifiedBy>user</cp:lastModifiedBy>
  <cp:revision>12</cp:revision>
  <dcterms:created xsi:type="dcterms:W3CDTF">2026-04-13T05:41:20Z</dcterms:created>
  <dcterms:modified xsi:type="dcterms:W3CDTF">2026-04-16T11:17:56Z</dcterms:modified>
</cp:coreProperties>
</file>